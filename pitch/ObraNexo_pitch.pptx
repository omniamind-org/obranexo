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0:00-0:10 · ABERTURA</a:t>
            </a:r>
          </a:p>
          <a:p/>
          <a:p>
            <a:r>
              <a:t>Todo dia, mais de mil pregões eletrônicos são publicados no Brasil. Para quem vende material elétrico, achar os certos é procurar agulha no palheiro. Nós somos o ObraNexo.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0:10-0:25 · O GANCHO</a:t>
            </a:r>
          </a:p>
          <a:p/>
          <a:p>
            <a:r>
              <a:t>Nós medimos isso, em mais de sessenta e quatro mil pregões do PNCP: o governo compra mais de seis bilhões de reais por ano em itens de material elétrico. E noventa por cento dos pregões que compram esses itens nem citam isso no objeto. [pausa] Quem busca por palavra-chave não enxerga.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0:25-0:50 · O PROBLEMA</a:t>
            </a:r>
          </a:p>
          <a:p/>
          <a:p>
            <a:r>
              <a:t>Cada pregão desses traz, em média, vinte e três itens com especificação técnica: potência, fluxo luminoso, grau de proteção, garantia. Errou um detalhe, a proposta é desclassificada. Quase metade desses itens é exclusiva para pequenas empresas, e elas não têm analista: ler um único edital pode custar setecentos reais. O resultado são itens desertos, fracassados e pouca concorrência.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0:50-1:10 · A SOLUÇÃO</a:t>
            </a:r>
          </a:p>
          <a:p/>
          <a:p>
            <a:r>
              <a:t>O ObraNexo resolve isso com agentes de inteligência artificial. Eles encontram as licitações abertas, leem o edital e os anexos, e comparam cada exigência com cada produto do catálogo da empresa. A resposta é clara: compatível, parcial, indeterminado ou incompatível.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1:10-1:30 · O DIFERENCIAL: CONFIANÇA</a:t>
            </a:r>
          </a:p>
          <a:p/>
          <a:p>
            <a:r>
              <a:t>O nosso diferencial é confiança. A IA interpreta, mas quem decide são regras auditáveis. E cada conclusão aponta para o trecho literal do edital, conferido no documento. [pausa] O vendedor clica e vê a prova.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1:30-1:45 · A CONCORRÊNCIA</a:t>
            </a:r>
          </a:p>
          <a:p/>
          <a:p>
            <a:r>
              <a:t>Já existem boas ferramentas para buscar licitações e resumir editais. Mas nenhuma das que pesquisamos junta comparação técnica item a item com o catálogo, regras auditáveis, prova em cada resposta e foco em material elétrico.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1:45-2:00 · O MERCADO</a:t>
            </a:r>
          </a:p>
          <a:p/>
          <a:p>
            <a:r>
              <a:t>São um trilhão de reais em compras públicas por ano, seis bilhões só em itens elétricos, e de sete a treze mil empresas que vendem ou podem vender ao governo. Nossa meta é chegar a duzentos e cinquenta clientes em três anos.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2:00-2:15 · O MODELO DE NEGÓCIO</a:t>
            </a:r>
          </a:p>
          <a:p/>
          <a:p>
            <a:r>
              <a:t>O modelo é assinatura: um radar gratuito e planos a partir de trezentos e noventa e sete reais por mês, na faixa do que o mercado já paga. Cada análise custa centavos de IA, então a margem é alta. E as assessorias de licitação são o nosso canal: cada uma atende dezenas de empresas.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2:15-2:35 · JÁ FUNCIONA</a:t>
            </a:r>
          </a:p>
          <a:p/>
          <a:p>
            <a:r>
              <a:t>E isso já funciona. Sete agentes, um assistente que responde em linguagem natural, testes cegos em pregões reais, e cem por cento de acerto no nosso conjunto de teste, com toda conclusão rastreável.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2:35-3:00 · IMPACTO E PEDIDO</a:t>
            </a:r>
          </a:p>
          <a:p/>
          <a:p>
            <a:r>
              <a:t>Cada fornecedor qualificado a mais numa disputa reduz o preço para o governo em cerca de três por cento, e gera emprego nas pequenas empresas. Agora queremos dez distribuidores de Goiás para um piloto de sessenta dias. [pausa] ObraNexo: o seu catálogo nas licitações certas, com prova.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comp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27432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78308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B2A3C"/>
                </a:solidFill>
                <a:latin typeface="Segoe UI"/>
              </a:rPr>
              <a:t>O seu catálogo nas licitações certas, com prova.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69080"/>
            <a:ext cx="6400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4B5B67"/>
                </a:solidFill>
                <a:latin typeface="Segoe UI"/>
              </a:rPr>
              <a:t>Agentes de IA que encontram licitações no PNCP, comparam cada exigência do edital com o seu produto e mostram o trecho do edital como prova.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532120"/>
            <a:ext cx="822960" cy="54864"/>
          </a:xfrm>
          <a:prstGeom prst="rect">
            <a:avLst/>
          </a:prstGeom>
          <a:solidFill>
            <a:srgbClr val="00A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7150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7D8B96"/>
                </a:solidFill>
                <a:latin typeface="Segoe UI"/>
              </a:rPr>
              <a:t>AKCIT Camp 2026 · Goiás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417320"/>
            <a:ext cx="4206240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su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1691640"/>
            <a:ext cx="3840480" cy="23048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26679" y="4160520"/>
            <a:ext cx="3840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0222F"/>
                </a:solidFill>
                <a:latin typeface="Segoe UI"/>
              </a:rPr>
              <a:t>Pregão de luminárias de Goianira/GO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B5B67"/>
                </a:solidFill>
                <a:latin typeface="Segoe UI"/>
              </a:rPr>
              <a:t>Prioridade 65 · 4 itens compatíveis e 2 parciais · R$ 1,7 mi em itens atendidos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7FE3D9"/>
                </a:solidFill>
                <a:latin typeface="Segoe UI"/>
              </a:rPr>
              <a:t>O QUE MEDIMOS NO PNCP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FFFFFF"/>
                </a:solidFill>
                <a:latin typeface="Segoe UI"/>
              </a:rPr>
              <a:t>R$ 6 bilhões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C2CED6"/>
                </a:solidFill>
                <a:latin typeface="Segoe UI"/>
              </a:rPr>
              <a:t>por ano em itens de material elétrico comprados em pregões eletrônicos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86200"/>
            <a:ext cx="1069848" cy="457200"/>
          </a:xfrm>
          <a:prstGeom prst="rect">
            <a:avLst/>
          </a:prstGeom>
          <a:solidFill>
            <a:srgbClr val="7FE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3886200"/>
            <a:ext cx="9628632" cy="457200"/>
          </a:xfrm>
          <a:prstGeom prst="rect">
            <a:avLst/>
          </a:prstGeom>
          <a:solidFill>
            <a:srgbClr val="14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2628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7FE3D9"/>
                </a:solidFill>
                <a:latin typeface="Segoe UI"/>
              </a:rPr>
              <a:t>10%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C2CED6"/>
                </a:solidFill>
                <a:latin typeface="Segoe UI"/>
              </a:rPr>
              <a:t>dos pregões com itens elétricos citam isso no objeto: é o que a busca por palavra-chave enxerga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526280"/>
            <a:ext cx="50566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90%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C2CED6"/>
                </a:solidFill>
                <a:latin typeface="Segoe UI"/>
              </a:rPr>
              <a:t>não citam e só aparecem para quem lê o edital item a 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C2CED6"/>
                </a:solidFill>
                <a:latin typeface="Segoe UI"/>
              </a:rPr>
              <a:t>Medição própria ObraNexo: 64.473 pregões eletrônicos do PNCP (junho e 24/09–23/10/2026); valor estimado dos itens, junho/2026 × 12.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C2CED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B2A3C"/>
                </a:solidFill>
                <a:latin typeface="Segoe UI"/>
              </a:rPr>
              <a:t>O fornecedor não consegue ler esse mercado a tempo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7830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>
                <a:solidFill>
                  <a:srgbClr val="00756C"/>
                </a:solidFill>
                <a:latin typeface="Segoe UI"/>
              </a:rPr>
              <a:t>1.110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69748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B5B67"/>
                </a:solidFill>
                <a:latin typeface="Segoe UI"/>
              </a:rPr>
              <a:t>pregões eletrônicos publicados por dia no Brasil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50876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1999" y="17830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>
                <a:solidFill>
                  <a:srgbClr val="00756C"/>
                </a:solidFill>
                <a:latin typeface="Segoe UI"/>
              </a:rPr>
              <a:t>23 itens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99" y="269748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B5B67"/>
                </a:solidFill>
                <a:latin typeface="Segoe UI"/>
              </a:rPr>
              <a:t>elétricos por pregão, em média, cada um com especificação técnica: potência, fluxo, IP, garantia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50876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7830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>
                <a:solidFill>
                  <a:srgbClr val="00756C"/>
                </a:solidFill>
                <a:latin typeface="Segoe UI"/>
              </a:rPr>
              <a:t>R$ 700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69748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B5B67"/>
                </a:solidFill>
                <a:latin typeface="Segoe UI"/>
              </a:rPr>
              <a:t>pode custar a análise de um único edital, e a pequena empresa não tem analista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E0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61772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B2A3C"/>
                </a:solidFill>
                <a:latin typeface="Segoe UI"/>
              </a:rPr>
              <a:t>45%</a:t>
            </a: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10222F"/>
                </a:solidFill>
                <a:latin typeface="Segoe UI"/>
              </a:rPr>
              <a:t>dos itens elétricos são exclusivos para micro e pequenas empresas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61772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B2A3C"/>
                </a:solidFill>
                <a:latin typeface="Segoe UI"/>
              </a:rPr>
              <a:t>6 a 12%</a:t>
            </a: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10222F"/>
                </a:solidFill>
                <a:latin typeface="Segoe UI"/>
              </a:rPr>
              <a:t>dos itens elétricos terminam desertos ou fracassados: dinheiro público parado e venda perdida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7D8B96"/>
                </a:solidFill>
                <a:latin typeface="Segoe UI"/>
              </a:rPr>
              <a:t>Medição própria no PNCP (jun e set–out/2026). Custo por edital: estimativa sobre salário médio de analista de licitação (Glassdoor) e 3–16 h por edital. Lei 14.133, art. 59: proposta fora da especificação é desclassificada.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7D8B9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B2A3C"/>
                </a:solidFill>
                <a:latin typeface="Segoe UI"/>
              </a:rPr>
              <a:t>Agentes de IA que encontram, comparam e provam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00A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53619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B2A3C"/>
                </a:solidFill>
                <a:latin typeface="Segoe UI"/>
              </a:rPr>
              <a:t>Encontra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96596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5B67"/>
                </a:solidFill>
                <a:latin typeface="Segoe UI"/>
              </a:rPr>
              <a:t>Busca no PNCP as licitações abertas que combinam com o seu catálogo, inclusive as que não citam o produto no objeto.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3063239"/>
            <a:ext cx="502920" cy="502920"/>
          </a:xfrm>
          <a:prstGeom prst="ellipse">
            <a:avLst/>
          </a:prstGeom>
          <a:solidFill>
            <a:srgbClr val="00A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044951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B2A3C"/>
                </a:solidFill>
                <a:latin typeface="Segoe UI"/>
              </a:rPr>
              <a:t>Compara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47472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5B67"/>
                </a:solidFill>
                <a:latin typeface="Segoe UI"/>
              </a:rPr>
              <a:t>Cada exigência do edital e dos anexos contra cada produto: potência, tensão, IP, garantia, certificação.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572000"/>
            <a:ext cx="502920" cy="502920"/>
          </a:xfrm>
          <a:prstGeom prst="ellipse">
            <a:avLst/>
          </a:prstGeom>
          <a:solidFill>
            <a:srgbClr val="00A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55371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B2A3C"/>
                </a:solidFill>
                <a:latin typeface="Segoe UI"/>
              </a:rPr>
              <a:t>Decide com prova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98348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5B67"/>
                </a:solidFill>
                <a:latin typeface="Segoe UI"/>
              </a:rPr>
              <a:t>Compatível, parcial, indeterminado ou incompatível, com o trecho do edital ao lado de cada veredito.</a:t>
            </a:r>
          </a:p>
        </p:txBody>
      </p:sp>
      <p:pic>
        <p:nvPicPr>
          <p:cNvPr id="12" name="Picture 11" descr="it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17320"/>
            <a:ext cx="6812280" cy="4381032"/>
          </a:xfrm>
          <a:prstGeom prst="rect">
            <a:avLst/>
          </a:prstGeom>
          <a:ln w="12700">
            <a:solidFill>
              <a:srgbClr val="DFE5E8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846320" y="5897880"/>
            <a:ext cx="6812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7D8B96"/>
                </a:solidFill>
                <a:latin typeface="Segoe UI"/>
              </a:rPr>
              <a:t>Tela real do ObraNexo: luminária pública LED do pregão de Goianira/GO, exigência por exigência.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7D8B9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7FE3D9"/>
                </a:solidFill>
                <a:latin typeface="Segoe UI"/>
              </a:rPr>
              <a:t>NOSSO DIFERENCIAL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47548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Segoe UI"/>
              </a:rPr>
              <a:t>A IA interpreta.</a:t>
            </a:r>
          </a:p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Segoe UI"/>
              </a:rPr>
              <a:t>As regras decidem.</a:t>
            </a:r>
          </a:p>
          <a:p>
            <a:pPr algn="l">
              <a:lnSpc>
                <a:spcPct val="105000"/>
              </a:lnSpc>
            </a:pPr>
            <a:r>
              <a:rPr sz="3800" b="1">
                <a:solidFill>
                  <a:srgbClr val="7FE3D9"/>
                </a:solidFill>
                <a:latin typeface="Segoe UI"/>
              </a:rPr>
              <a:t>Tudo tem prova.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4480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C2CED6"/>
                </a:solidFill>
                <a:latin typeface="Segoe UI"/>
              </a:rPr>
              <a:t>Um motor de regras auditável decide a compatibilidade. Cada conclusão aponta para o trecho literal do edital, conferido no documento.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920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Compatível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48920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300" b="1">
                <a:solidFill>
                  <a:srgbClr val="10222F"/>
                </a:solidFill>
                <a:latin typeface="Segoe UI"/>
              </a:rPr>
              <a:t>Parcial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22392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A5B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300" b="1">
                <a:solidFill>
                  <a:srgbClr val="10222F"/>
                </a:solidFill>
                <a:latin typeface="Segoe UI"/>
              </a:rPr>
              <a:t>Indeterminado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5422392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Incompatível</a:t>
            </a:r>
          </a:p>
        </p:txBody>
      </p:sp>
      <p:pic>
        <p:nvPicPr>
          <p:cNvPr id="9" name="Picture 8" descr="pro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234440"/>
            <a:ext cx="5760720" cy="31916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0" y="4526280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2CED6"/>
                </a:solidFill>
                <a:latin typeface="Segoe UI"/>
              </a:rPr>
              <a:t>Tela real: o vendedor clica no veredito e vê o trecho destacado na descrição oficial do item no PNCP.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C2CED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B2A3C"/>
                </a:solidFill>
                <a:latin typeface="Segoe UI"/>
              </a:rPr>
              <a:t>Resumir edital já é padrão. A combinação é nossa.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39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1920240"/>
                <a:gridCol w="1920240"/>
                <a:gridCol w="1645920"/>
                <a:gridCol w="182880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4B5B67"/>
                          </a:solidFill>
                          <a:latin typeface="Segoe UI"/>
                        </a:rPr>
                        <a:t>Capacidade anunciada</a:t>
                      </a:r>
                    </a:p>
                  </a:txBody>
                  <a:tcPr anchor="ctr" marL="109728" marR="109728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B5B67"/>
                          </a:solidFill>
                          <a:latin typeface="Segoe UI"/>
                        </a:rPr>
                        <a:t>Suítes de busca e lances</a:t>
                      </a:r>
                    </a:p>
                  </a:txBody>
                  <a:tcPr anchor="ctr" marL="109728" marR="109728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B5B67"/>
                          </a:solidFill>
                          <a:latin typeface="Segoe UI"/>
                        </a:rPr>
                        <a:t>Startups de IA de edital</a:t>
                      </a:r>
                    </a:p>
                  </a:txBody>
                  <a:tcPr anchor="ctr" marL="109728" marR="109728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B5B67"/>
                          </a:solidFill>
                          <a:latin typeface="Segoe UI"/>
                        </a:rPr>
                        <a:t>LiciteCerto</a:t>
                      </a:r>
                    </a:p>
                  </a:txBody>
                  <a:tcPr anchor="ctr" marL="109728" marR="109728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ObraNexo</a:t>
                      </a:r>
                    </a:p>
                  </a:txBody>
                  <a:tcPr anchor="ctr" marL="109728" marR="109728">
                    <a:solidFill>
                      <a:srgbClr val="0B2A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0222F"/>
                          </a:solidFill>
                          <a:latin typeface="Segoe UI"/>
                        </a:rPr>
                        <a:t>Busca e alertas no PNCP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756C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756C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756C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B2A3C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L="109728" marR="109728">
                    <a:solidFill>
                      <a:srgbClr val="E0F3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0222F"/>
                          </a:solidFill>
                          <a:latin typeface="Segoe UI"/>
                        </a:rPr>
                        <a:t>Resumo e chat do edital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756C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756C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7D8B96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B2A3C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L="109728" marR="109728">
                    <a:solidFill>
                      <a:srgbClr val="E0F3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0222F"/>
                          </a:solidFill>
                          <a:latin typeface="Segoe UI"/>
                        </a:rPr>
                        <a:t>Item do edital × catálogo do fornecedor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7D8B96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855600"/>
                          </a:solidFill>
                          <a:latin typeface="Segoe UI"/>
                        </a:rPr>
                        <a:t>por código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756C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B2A3C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L="109728" marR="109728">
                    <a:solidFill>
                      <a:srgbClr val="E0F3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0222F"/>
                          </a:solidFill>
                          <a:latin typeface="Segoe UI"/>
                        </a:rPr>
                        <a:t>Regras auditáveis com “indeterminado”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7D8B96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7D8B96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7D8B96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B2A3C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L="109728" marR="109728">
                    <a:solidFill>
                      <a:srgbClr val="E0F3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0222F"/>
                          </a:solidFill>
                          <a:latin typeface="Segoe UI"/>
                        </a:rPr>
                        <a:t>Prova conferida em cada veredito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7D8B96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855600"/>
                          </a:solidFill>
                          <a:latin typeface="Segoe UI"/>
                        </a:rPr>
                        <a:t>só no chat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7D8B96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B2A3C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L="109728" marR="109728">
                    <a:solidFill>
                      <a:srgbClr val="E0F3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0222F"/>
                          </a:solidFill>
                          <a:latin typeface="Segoe UI"/>
                        </a:rPr>
                        <a:t>Foco em elétrica e demanda em obras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7D8B96"/>
                          </a:solidFill>
                          <a:latin typeface="Segoe UI"/>
                        </a:rPr>
                        <a:t>horizontal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7D8B96"/>
                          </a:solidFill>
                          <a:latin typeface="Segoe UI"/>
                        </a:rPr>
                        <a:t>horizontal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7D8B96"/>
                          </a:solidFill>
                          <a:latin typeface="Segoe UI"/>
                        </a:rPr>
                        <a:t>horizontal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B2A3C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L="109728" marR="109728">
                    <a:solidFill>
                      <a:srgbClr val="E0F3F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3550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7D8B96"/>
                </a:solidFill>
                <a:latin typeface="Segoe UI"/>
              </a:rPr>
              <a:t>Capacidades anunciadas nos sites dos concorrentes, out/2026. Suítes: Effecti, ConLicitação, Siga Pregão, Licitei. IA de edital: Acumi, Settle, Licinexus, LicitaGov. Líderes declaram de 3 a 20 mil clientes.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7D8B9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B2A3C"/>
                </a:solidFill>
                <a:latin typeface="Segoe UI"/>
              </a:rPr>
              <a:t>Um mercado grande, e medido por nós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7680960" cy="987552"/>
          </a:xfrm>
          <a:prstGeom prst="roundRect">
            <a:avLst>
              <a:gd name="adj" fmla="val 12000"/>
            </a:avLst>
          </a:prstGeom>
          <a:solidFill>
            <a:srgbClr val="0B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572768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R$ 1 trilhão / 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011680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C2CED6"/>
                </a:solidFill>
                <a:latin typeface="Segoe UI"/>
              </a:rPr>
              <a:t>compras públicas homologadas no PNCP em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17647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7D8B96"/>
                </a:solidFill>
                <a:latin typeface="Segoe UI"/>
              </a:rPr>
              <a:t>fato · MGI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578608"/>
            <a:ext cx="6912864" cy="987552"/>
          </a:xfrm>
          <a:prstGeom prst="roundRect">
            <a:avLst>
              <a:gd name="adj" fmla="val 12000"/>
            </a:avLst>
          </a:prstGeom>
          <a:solidFill>
            <a:srgbClr val="14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2688336"/>
            <a:ext cx="63642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R$ 6,1–6,4 bi / 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127248"/>
            <a:ext cx="63642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C2CED6"/>
                </a:solidFill>
                <a:latin typeface="Segoe UI"/>
              </a:rPr>
              <a:t>itens de material elétrico em pregões eletrônicos; 83% é iluminação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880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7D8B96"/>
                </a:solidFill>
                <a:latin typeface="Segoe UI"/>
              </a:rPr>
              <a:t>dado próprio · medição no PNCP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16736" y="3694176"/>
            <a:ext cx="6144768" cy="987552"/>
          </a:xfrm>
          <a:prstGeom prst="roundRect">
            <a:avLst>
              <a:gd name="adj" fmla="val 12000"/>
            </a:avLst>
          </a:prstGeom>
          <a:solidFill>
            <a:srgbClr val="00A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91056" y="3803904"/>
            <a:ext cx="5596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R$ 51–96 mi / 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242816"/>
            <a:ext cx="5596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C2CED6"/>
                </a:solidFill>
                <a:latin typeface="Segoe UI"/>
              </a:rPr>
              <a:t>mercado de software: 7 a 13 mil empresas × R$ 600/mês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9959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7D8B96"/>
                </a:solidFill>
                <a:latin typeface="Segoe UI"/>
              </a:rPr>
              <a:t>estimativa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00784" y="4809744"/>
            <a:ext cx="5376672" cy="987552"/>
          </a:xfrm>
          <a:prstGeom prst="roundRect">
            <a:avLst>
              <a:gd name="adj" fmla="val 12000"/>
            </a:avLst>
          </a:prstGeom>
          <a:solidFill>
            <a:srgbClr val="E0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75103" y="4919472"/>
            <a:ext cx="48280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B2A3C"/>
                </a:solidFill>
                <a:latin typeface="Segoe UI"/>
              </a:rPr>
              <a:t>250 clientes · R$ 1,8 mi/ano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5103" y="5358383"/>
            <a:ext cx="48280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B2A3C"/>
                </a:solidFill>
                <a:latin typeface="Segoe UI"/>
              </a:rPr>
              <a:t>nossa meta em 36 meses (cenário-base)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511149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7D8B96"/>
                </a:solidFill>
                <a:latin typeface="Segoe UI"/>
              </a:rPr>
              <a:t>premissa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D8B96"/>
                </a:solidFill>
                <a:latin typeface="Segoe UI"/>
              </a:rPr>
              <a:t>Larguras ilustrativas (fora de escala). Detalhamento e fontes no BMC_ObraNexo.txt.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7D8B96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B2A3C"/>
                </a:solidFill>
                <a:latin typeface="Segoe UI"/>
              </a:rPr>
              <a:t>Assinatura com margem alta e um canal que escala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60604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642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0756C"/>
                </a:solidFill>
                <a:latin typeface="Segoe UI"/>
              </a:rPr>
              <a:t>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B2A3C"/>
                </a:solidFill>
                <a:latin typeface="Segoe UI"/>
              </a:rPr>
              <a:t>R$ 0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24912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B5B67"/>
                </a:solidFill>
                <a:latin typeface="Segoe UI"/>
              </a:rPr>
              <a:t>alertas e triagem das licitações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463040"/>
            <a:ext cx="260604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642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0756C"/>
                </a:solidFill>
                <a:latin typeface="Segoe UI"/>
              </a:rPr>
              <a:t>Essencial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05740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B2A3C"/>
                </a:solidFill>
                <a:latin typeface="Segoe UI"/>
              </a:rPr>
              <a:t>R$ 397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724912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B5B67"/>
                </a:solidFill>
                <a:latin typeface="Segoe UI"/>
              </a:rPr>
              <a:t>por mês · análises completas com cota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463040"/>
            <a:ext cx="2606040" cy="1874519"/>
          </a:xfrm>
          <a:prstGeom prst="roundRect">
            <a:avLst>
              <a:gd name="adj" fmla="val 7000"/>
            </a:avLst>
          </a:prstGeom>
          <a:solidFill>
            <a:srgbClr val="0B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79" y="16642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7FE3D9"/>
                </a:solidFill>
                <a:latin typeface="Segoe UI"/>
              </a:rPr>
              <a:t>Profissional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79" y="205740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R$ 897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2724912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2CED6"/>
                </a:solidFill>
                <a:latin typeface="Segoe UI"/>
              </a:rPr>
              <a:t>por mês · mais análises e prospecção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399" y="1463040"/>
            <a:ext cx="260604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3999" y="16642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0756C"/>
                </a:solidFill>
                <a:latin typeface="Segoe UI"/>
              </a:rPr>
              <a:t>Redes e assessorias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999" y="205740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B2A3C"/>
                </a:solidFill>
                <a:latin typeface="Segoe UI"/>
              </a:rPr>
              <a:t>R$ 1.490+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3999" y="2724912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B5B67"/>
                </a:solidFill>
                <a:latin typeface="Segoe UI"/>
              </a:rPr>
              <a:t>por mês · vários CNPJs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0332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0756C"/>
                </a:solidFill>
                <a:latin typeface="Segoe UI"/>
              </a:rPr>
              <a:t>R$ 0,02–0,48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79392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B5B67"/>
                </a:solidFill>
                <a:latin typeface="Segoe UI"/>
              </a:rPr>
              <a:t>custo de IA por análise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370332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0756C"/>
                </a:solidFill>
                <a:latin typeface="Segoe UI"/>
              </a:rPr>
              <a:t>75–85%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4279392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B5B67"/>
                </a:solidFill>
                <a:latin typeface="Segoe UI"/>
              </a:rPr>
              <a:t>margem bruta-alvo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370332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0756C"/>
                </a:solidFill>
                <a:latin typeface="Segoe UI"/>
              </a:rPr>
              <a:t>R$ 101–1.397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9" y="4279392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B5B67"/>
                </a:solidFill>
                <a:latin typeface="Segoe UI"/>
              </a:rPr>
              <a:t>por mês: o que os concorrentes já cobram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9834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0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98348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B2A3C"/>
                </a:solidFill>
                <a:latin typeface="Segoe UI"/>
              </a:rPr>
              <a:t>Canais: </a:t>
            </a:r>
            <a:r>
              <a:rPr sz="1500" b="0">
                <a:solidFill>
                  <a:srgbClr val="10222F"/>
                </a:solidFill>
                <a:latin typeface="Segoe UI"/>
              </a:rPr>
              <a:t>assessorias de licitação (cada uma atende dezenas de empresas) · radar gratuito que converte · fabricantes e suas redes de distribuidores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3550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7D8B96"/>
                </a:solidFill>
                <a:latin typeface="Segoe UI"/>
              </a:rPr>
              <a:t>Planos e margem: premissas do modelo. Custo de IA: estimativa sobre preços oficiais dos provedores (out/2026). Preços de concorrentes: Siga Pregão, Licitei, Licita Já, Acumi.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7D8B96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B2A3C"/>
                </a:solidFill>
                <a:latin typeface="Segoe UI"/>
              </a:rPr>
              <a:t>Não é ideia: o produto já funciona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A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B2A3C"/>
                </a:solidFill>
                <a:latin typeface="Segoe UI"/>
              </a:rPr>
              <a:t>7 agentes de IA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4B5B67"/>
                </a:solidFill>
                <a:latin typeface="Segoe UI"/>
              </a:rPr>
              <a:t>prospecção, analista técnico, especificador, investigador, verificador, planejador e assistente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048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A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59152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B2A3C"/>
                </a:solidFill>
                <a:latin typeface="Segoe UI"/>
              </a:rPr>
              <a:t>Testes cegos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4B5B67"/>
                </a:solidFill>
                <a:latin typeface="Segoe UI"/>
              </a:rPr>
              <a:t>em pregões reais com propostas abertas no PNCP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0098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A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55264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B2A3C"/>
                </a:solidFill>
                <a:latin typeface="Segoe UI"/>
              </a:rPr>
              <a:t>100% de acerto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4B5B67"/>
                </a:solidFill>
                <a:latin typeface="Segoe UI"/>
              </a:rPr>
              <a:t>por item e de citações conferidas no nosso conjunto de teste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9709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A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51376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B2A3C"/>
                </a:solidFill>
                <a:latin typeface="Segoe UI"/>
              </a:rPr>
              <a:t>3 provedores de IA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4B5B67"/>
                </a:solidFill>
                <a:latin typeface="Segoe UI"/>
              </a:rPr>
              <a:t>Gemini, Groq e Claude, com troca automática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93207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A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047488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B2A3C"/>
                </a:solidFill>
                <a:latin typeface="Segoe UI"/>
              </a:rPr>
              <a:t>64.473 pregões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4B5B67"/>
                </a:solidFill>
                <a:latin typeface="Segoe UI"/>
              </a:rPr>
              <a:t>medidos com o próprio conector do ObraNexo</a:t>
            </a:r>
          </a:p>
        </p:txBody>
      </p:sp>
      <p:pic>
        <p:nvPicPr>
          <p:cNvPr id="13" name="Picture 12" descr="ra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63040"/>
            <a:ext cx="6766560" cy="4041140"/>
          </a:xfrm>
          <a:prstGeom prst="rect">
            <a:avLst/>
          </a:prstGeom>
          <a:ln w="12700">
            <a:solidFill>
              <a:srgbClr val="DFE5E8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4892040" y="5596128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7D8B96"/>
                </a:solidFill>
                <a:latin typeface="Segoe UI"/>
              </a:rPr>
              <a:t>Tela real: ranking justificado da prospecção autônoma e o assistente respondendo com dados ao vivo do PNCP.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7D8B96"/>
                </a:solidFill>
                <a:latin typeface="Segoe UI"/>
              </a:rPr>
              <a:t>100% de acerto: dado interno no conjunto de teste com gabarito revisado pela equipe, ainda sem auditoria independente.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7D8B96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7FE3D9"/>
                </a:solidFill>
                <a:latin typeface="Segoe UI"/>
              </a:rPr>
              <a:t>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−3%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1207007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2CED6"/>
                </a:solidFill>
                <a:latin typeface="Segoe UI"/>
              </a:rPr>
              <a:t>no preço pago pelo governo a cada concorrente qualificado a mais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21408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+2,2 p.p.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231136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2CED6"/>
                </a:solidFill>
                <a:latin typeface="Segoe UI"/>
              </a:rPr>
              <a:t>de crescimento trimestral para a empresa que ganha um contrato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45536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3255264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2CED6"/>
                </a:solidFill>
                <a:latin typeface="Segoe UI"/>
              </a:rPr>
              <a:t>da iluminação pública ainda sem LED: 17 milhões de pontos a modernizar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51960"/>
            <a:ext cx="841248" cy="347472"/>
          </a:xfrm>
          <a:prstGeom prst="roundRect">
            <a:avLst>
              <a:gd name="adj" fmla="val 50000"/>
            </a:avLst>
          </a:prstGeom>
          <a:solidFill>
            <a:srgbClr val="14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7FE3D9"/>
                </a:solidFill>
                <a:latin typeface="Segoe UI"/>
              </a:rPr>
              <a:t>ODS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4251960"/>
            <a:ext cx="841248" cy="347472"/>
          </a:xfrm>
          <a:prstGeom prst="roundRect">
            <a:avLst>
              <a:gd name="adj" fmla="val 50000"/>
            </a:avLst>
          </a:prstGeom>
          <a:solidFill>
            <a:srgbClr val="14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7FE3D9"/>
                </a:solidFill>
                <a:latin typeface="Segoe UI"/>
              </a:rPr>
              <a:t>ODS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4251960"/>
            <a:ext cx="841248" cy="347472"/>
          </a:xfrm>
          <a:prstGeom prst="roundRect">
            <a:avLst>
              <a:gd name="adj" fmla="val 50000"/>
            </a:avLst>
          </a:prstGeom>
          <a:solidFill>
            <a:srgbClr val="14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7FE3D9"/>
                </a:solidFill>
                <a:latin typeface="Segoe UI"/>
              </a:rPr>
              <a:t>ODS 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4251960"/>
            <a:ext cx="841248" cy="347472"/>
          </a:xfrm>
          <a:prstGeom prst="roundRect">
            <a:avLst>
              <a:gd name="adj" fmla="val 50000"/>
            </a:avLst>
          </a:prstGeom>
          <a:solidFill>
            <a:srgbClr val="14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7FE3D9"/>
                </a:solidFill>
                <a:latin typeface="Segoe UI"/>
              </a:rPr>
              <a:t>ODS 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251960"/>
            <a:ext cx="841248" cy="347472"/>
          </a:xfrm>
          <a:prstGeom prst="roundRect">
            <a:avLst>
              <a:gd name="adj" fmla="val 50000"/>
            </a:avLst>
          </a:prstGeom>
          <a:solidFill>
            <a:srgbClr val="14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7FE3D9"/>
                </a:solidFill>
                <a:latin typeface="Segoe UI"/>
              </a:rPr>
              <a:t>ODS 12.7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4251960"/>
            <a:ext cx="841248" cy="347472"/>
          </a:xfrm>
          <a:prstGeom prst="roundRect">
            <a:avLst>
              <a:gd name="adj" fmla="val 50000"/>
            </a:avLst>
          </a:prstGeom>
          <a:solidFill>
            <a:srgbClr val="14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7FE3D9"/>
                </a:solidFill>
                <a:latin typeface="Segoe UI"/>
              </a:rPr>
              <a:t>ODS 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777240"/>
            <a:ext cx="4846320" cy="3840480"/>
          </a:xfrm>
          <a:prstGeom prst="roundRect">
            <a:avLst>
              <a:gd name="adj" fmla="val 7000"/>
            </a:avLst>
          </a:prstGeom>
          <a:solidFill>
            <a:srgbClr val="14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10515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7FE3D9"/>
                </a:solidFill>
                <a:latin typeface="Segoe UI"/>
              </a:rPr>
              <a:t>O QUE PEDIMOS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508760"/>
            <a:ext cx="4297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10 distribuidores de Goiás para um piloto de 60 dias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063240"/>
            <a:ext cx="4297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C2CED6"/>
                </a:solidFill>
                <a:latin typeface="Segoe UI"/>
              </a:rPr>
              <a:t>e apoio do AKCIT/Embrapii para levar o MVP a produção, com rotulagem independente do benchmark.</a:t>
            </a:r>
          </a:p>
        </p:txBody>
      </p:sp>
      <p:pic>
        <p:nvPicPr>
          <p:cNvPr id="19" name="Picture 18" descr="logo_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983480"/>
            <a:ext cx="2377440" cy="7924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429000" y="5120640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O seu catálogo nas licitações certas, com prova.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562356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C2CED6"/>
                </a:solidFill>
                <a:latin typeface="Segoe UI"/>
              </a:rPr>
              <a:t>Equipe: [Nome — papel] · [Nome — papel] · [Nome — papel] · [Nome — papel]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550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C2CED6"/>
                </a:solidFill>
                <a:latin typeface="Segoe UI"/>
              </a:rPr>
              <a:t>−3,4% por licitante adicional: Pavel &amp; Sičáková-Beblavá (Eslováquia). +2,2 p.p.: Ferraz, Finan e Szerman (NBER). Parque de iluminação: ABCIP/Expolux.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